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70607" y="1076325"/>
            <a:ext cx="400278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00"/>
              </a:lnSpc>
              <a:spcAft>
                <a:spcPts val="750"/>
              </a:spcAft>
              <a:buNone/>
            </a:pPr>
            <a:r>
              <a:rPr lang="en-US" sz="39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Car Concierge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3159306" y="1819275"/>
            <a:ext cx="282538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45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Opportunity Guide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110880" y="2863155"/>
            <a:ext cx="29222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4500"/>
              </a:spcAft>
              <a:buNone/>
            </a:pPr>
            <a:r>
              <a:rPr lang="en-US" sz="1500" i="1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 Jobs. Less Hassle. Your Terms.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69219" y="3853755"/>
            <a:ext cx="180541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www.mycarconcierge.com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495002"/>
            <a:ext cx="418738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125"/>
              </a:spcAft>
              <a:buNone/>
            </a:pPr>
            <a:r>
              <a:rPr lang="en-US" sz="2700" b="1" i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 Built This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76250" y="1133177"/>
            <a:ext cx="835533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1500"/>
              </a:spcAft>
              <a:buNone/>
            </a:pPr>
            <a:r>
              <a:rPr lang="en-US" sz="1350" i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"After 2,300+ rideshare trips, I saw the same problem over and over..."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76250" y="1715988"/>
            <a:ext cx="835533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Passengers constantly asked me for mechanic recommendations. They were frustrated with: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66750" y="2169319"/>
            <a:ext cx="8001000" cy="1027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17"/>
              </a:lnSpc>
              <a:spcAft>
                <a:spcPts val="375"/>
              </a:spcAft>
              <a:buSzPct val="100000"/>
              <a:buChar char="•"/>
            </a:pPr>
            <a:r>
              <a:rPr lang="en-US" sz="975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Wasting hours waiting at repair shops</a:t>
            </a:r>
            <a:endParaRPr lang="en-US" sz="975" dirty="0"/>
          </a:p>
          <a:p>
            <a:pPr algn="l" marL="342900" indent="-342900">
              <a:lnSpc>
                <a:spcPts val="1517"/>
              </a:lnSpc>
              <a:spcAft>
                <a:spcPts val="375"/>
              </a:spcAft>
              <a:buSzPct val="100000"/>
              <a:buChar char="•"/>
            </a:pPr>
            <a:r>
              <a:rPr lang="en-US" sz="975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Surprise bills and hidden fees</a:t>
            </a:r>
            <a:endParaRPr lang="en-US" sz="975" dirty="0"/>
          </a:p>
          <a:p>
            <a:pPr algn="l" marL="342900" indent="-342900">
              <a:lnSpc>
                <a:spcPts val="1517"/>
              </a:lnSpc>
              <a:spcAft>
                <a:spcPts val="375"/>
              </a:spcAft>
              <a:buSzPct val="100000"/>
              <a:buChar char="•"/>
            </a:pPr>
            <a:r>
              <a:rPr lang="en-US" sz="975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knowing if they could trust the mechanic</a:t>
            </a:r>
            <a:endParaRPr lang="en-US" sz="975" dirty="0"/>
          </a:p>
          <a:p>
            <a:pPr algn="l" marL="342900" indent="-342900">
              <a:lnSpc>
                <a:spcPts val="1517"/>
              </a:lnSpc>
              <a:spcAft>
                <a:spcPts val="375"/>
              </a:spcAft>
              <a:buSzPct val="100000"/>
              <a:buChar char="•"/>
            </a:pPr>
            <a:r>
              <a:rPr lang="en-US" sz="975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easy way to compare prices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476250" y="3520678"/>
            <a:ext cx="83553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15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driver who depended on my vehicle for income, I understood the stakes. I built My Car Concierge to solve this problem.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69018" y="4063603"/>
            <a:ext cx="73761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2.3k+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469018" y="4501753"/>
            <a:ext cx="73761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Rides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576432" y="4063603"/>
            <a:ext cx="40531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576432" y="4501753"/>
            <a:ext cx="40531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2354803" y="4063603"/>
            <a:ext cx="40531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2354803" y="4501753"/>
            <a:ext cx="40531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620316"/>
            <a:ext cx="418738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500"/>
              </a:spcAft>
              <a:buNone/>
            </a:pPr>
            <a:r>
              <a:rPr lang="en-US" sz="27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for Providers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76250" y="1306116"/>
            <a:ext cx="835533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shops don't need more phone calls — they need better ones.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6250" y="1862286"/>
            <a:ext cx="4024313" cy="647551"/>
          </a:xfrm>
          <a:prstGeom prst="roundRect">
            <a:avLst>
              <a:gd name="adj" fmla="val 8826"/>
            </a:avLst>
          </a:prstGeom>
          <a:solidFill>
            <a:srgbClr val="2525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90538" y="1862286"/>
            <a:ext cx="0" cy="647551"/>
          </a:xfrm>
          <a:prstGeom prst="line">
            <a:avLst/>
          </a:prstGeom>
          <a:noFill/>
          <a:ln w="28575">
            <a:solidFill>
              <a:srgbClr val="D4A8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8175" y="1995636"/>
            <a:ext cx="380361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75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Tire-Kickers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638175" y="2216497"/>
            <a:ext cx="380361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who never show up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43438" y="1862286"/>
            <a:ext cx="4024313" cy="647551"/>
          </a:xfrm>
          <a:prstGeom prst="roundRect">
            <a:avLst>
              <a:gd name="adj" fmla="val 8826"/>
            </a:avLst>
          </a:prstGeom>
          <a:solidFill>
            <a:srgbClr val="2525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57725" y="1862286"/>
            <a:ext cx="0" cy="647551"/>
          </a:xfrm>
          <a:prstGeom prst="line">
            <a:avLst/>
          </a:prstGeom>
          <a:noFill/>
          <a:ln w="28575">
            <a:solidFill>
              <a:srgbClr val="D4A8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5363" y="1995636"/>
            <a:ext cx="380361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75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Shoppers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805363" y="2216497"/>
            <a:ext cx="380361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Wasting staff time with no intent to book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6250" y="2805113"/>
            <a:ext cx="4024313" cy="647551"/>
          </a:xfrm>
          <a:prstGeom prst="roundRect">
            <a:avLst>
              <a:gd name="adj" fmla="val 8826"/>
            </a:avLst>
          </a:prstGeom>
          <a:solidFill>
            <a:srgbClr val="2525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90538" y="2805113"/>
            <a:ext cx="0" cy="647551"/>
          </a:xfrm>
          <a:prstGeom prst="line">
            <a:avLst/>
          </a:prstGeom>
          <a:noFill/>
          <a:ln w="28575">
            <a:solidFill>
              <a:srgbClr val="D4A8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175" y="2938463"/>
            <a:ext cx="380361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75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Unrealistic Expectations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38175" y="3159323"/>
            <a:ext cx="380361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surprised by standard pricing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43438" y="2805113"/>
            <a:ext cx="4024313" cy="647551"/>
          </a:xfrm>
          <a:prstGeom prst="roundRect">
            <a:avLst>
              <a:gd name="adj" fmla="val 8826"/>
            </a:avLst>
          </a:prstGeom>
          <a:solidFill>
            <a:srgbClr val="2525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57725" y="2805113"/>
            <a:ext cx="0" cy="647551"/>
          </a:xfrm>
          <a:prstGeom prst="line">
            <a:avLst/>
          </a:prstGeom>
          <a:noFill/>
          <a:ln w="28575">
            <a:solidFill>
              <a:srgbClr val="D4A8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5363" y="2938463"/>
            <a:ext cx="380361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75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Disputes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805363" y="3159323"/>
            <a:ext cx="380361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Chasing invoices and chargebacks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6250" y="3795564"/>
            <a:ext cx="8191500" cy="727621"/>
          </a:xfrm>
          <a:prstGeom prst="roundRect">
            <a:avLst>
              <a:gd name="adj" fmla="val 7854"/>
            </a:avLst>
          </a:prstGeom>
          <a:solidFill>
            <a:srgbClr val="2A2A2A"/>
          </a:solidFill>
          <a:ln w="9525">
            <a:solidFill>
              <a:srgbClr val="D4A84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49783" y="3947964"/>
            <a:ext cx="804443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MCC pre-qualifies every service request before it reaches you.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9783" y="4210794"/>
            <a:ext cx="804443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arrive knowing what to expect, prepared to pay, and ready for service.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381000"/>
            <a:ext cx="418738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875"/>
              </a:spcAft>
              <a:buNone/>
            </a:pPr>
            <a:r>
              <a:rPr lang="en-US" sz="27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MCC Does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76250" y="1114425"/>
            <a:ext cx="388134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Organizes and routes qualified service requests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76250" y="1415355"/>
            <a:ext cx="388134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Sets clear customer expectations upfront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76250" y="1716286"/>
            <a:ext cx="388134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Facilitates secure escrow payment protection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6250" y="2017216"/>
            <a:ext cx="388134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Walk-In POS system for your shop customers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6250" y="2318147"/>
            <a:ext cx="388134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Tools to grow without advertising costs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6250" y="2619077"/>
            <a:ext cx="388134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Mobile-friendly provider dashboard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67238" y="1114425"/>
            <a:ext cx="9525" cy="1691283"/>
          </a:xfrm>
          <a:prstGeom prst="rect">
            <a:avLst/>
          </a:prstGeom>
          <a:solidFill>
            <a:srgbClr val="44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62513" y="1114425"/>
            <a:ext cx="388134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MCC DOESN'T DO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62513" y="1388715"/>
            <a:ext cx="388134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Replace your business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862513" y="1657201"/>
            <a:ext cx="388134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Dictate your prices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862513" y="1925687"/>
            <a:ext cx="388134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Require exclusivity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862513" y="2194173"/>
            <a:ext cx="388134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Lock you into contracts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394335" y="4589264"/>
            <a:ext cx="83553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a coordination layer — not a replacement for your business. You stay in control.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1091654"/>
            <a:ext cx="418738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375"/>
              </a:spcAft>
              <a:buNone/>
            </a:pPr>
            <a:r>
              <a:rPr lang="en-US" sz="27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76250" y="1482179"/>
            <a:ext cx="83553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500"/>
              </a:spcAft>
              <a:buNone/>
            </a:pPr>
            <a:r>
              <a:rPr lang="en-US" sz="97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sign-up to getting paid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476250" y="1998315"/>
            <a:ext cx="1285875" cy="904726"/>
          </a:xfrm>
          <a:prstGeom prst="roundRect">
            <a:avLst>
              <a:gd name="adj" fmla="val 6317"/>
            </a:avLst>
          </a:prstGeom>
          <a:solidFill>
            <a:srgbClr val="2525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9977" y="2112615"/>
            <a:ext cx="107842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375"/>
              </a:spcAft>
              <a:buNone/>
            </a:pPr>
            <a:r>
              <a:rPr lang="en-US" sz="18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79977" y="2480221"/>
            <a:ext cx="10784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Account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579977" y="2655391"/>
            <a:ext cx="10784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application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857375" y="1998315"/>
            <a:ext cx="1285875" cy="904726"/>
          </a:xfrm>
          <a:prstGeom prst="roundRect">
            <a:avLst>
              <a:gd name="adj" fmla="val 6317"/>
            </a:avLst>
          </a:prstGeom>
          <a:solidFill>
            <a:srgbClr val="2525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961102" y="2112615"/>
            <a:ext cx="107842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375"/>
              </a:spcAft>
              <a:buNone/>
            </a:pPr>
            <a:r>
              <a:rPr lang="en-US" sz="18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961102" y="2480221"/>
            <a:ext cx="10784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Verified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1961102" y="2655391"/>
            <a:ext cx="10784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confirm credentials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238500" y="1998315"/>
            <a:ext cx="1285875" cy="904726"/>
          </a:xfrm>
          <a:prstGeom prst="roundRect">
            <a:avLst>
              <a:gd name="adj" fmla="val 6317"/>
            </a:avLst>
          </a:prstGeom>
          <a:solidFill>
            <a:srgbClr val="2525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342227" y="2112615"/>
            <a:ext cx="107842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375"/>
              </a:spcAft>
              <a:buNone/>
            </a:pPr>
            <a:r>
              <a:rPr lang="en-US" sz="18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42227" y="2480221"/>
            <a:ext cx="10784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 Requests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342227" y="2655391"/>
            <a:ext cx="10784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 on dashboard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619625" y="1998315"/>
            <a:ext cx="1285875" cy="904726"/>
          </a:xfrm>
          <a:prstGeom prst="roundRect">
            <a:avLst>
              <a:gd name="adj" fmla="val 6317"/>
            </a:avLst>
          </a:prstGeom>
          <a:solidFill>
            <a:srgbClr val="2525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23352" y="2112615"/>
            <a:ext cx="107842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375"/>
              </a:spcAft>
              <a:buNone/>
            </a:pPr>
            <a:r>
              <a:rPr lang="en-US" sz="18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23352" y="2480221"/>
            <a:ext cx="10784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Bid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723352" y="2655391"/>
            <a:ext cx="10784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set your price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000750" y="1998315"/>
            <a:ext cx="1285875" cy="904726"/>
          </a:xfrm>
          <a:prstGeom prst="roundRect">
            <a:avLst>
              <a:gd name="adj" fmla="val 6317"/>
            </a:avLst>
          </a:prstGeom>
          <a:solidFill>
            <a:srgbClr val="2525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104477" y="2112615"/>
            <a:ext cx="107842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375"/>
              </a:spcAft>
              <a:buNone/>
            </a:pPr>
            <a:r>
              <a:rPr lang="en-US" sz="18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04477" y="2480221"/>
            <a:ext cx="10784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and Deliver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6104477" y="2655391"/>
            <a:ext cx="10784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work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381875" y="1998315"/>
            <a:ext cx="1285875" cy="904726"/>
          </a:xfrm>
          <a:prstGeom prst="roundRect">
            <a:avLst>
              <a:gd name="adj" fmla="val 6317"/>
            </a:avLst>
          </a:prstGeom>
          <a:solidFill>
            <a:srgbClr val="2525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485602" y="2112615"/>
            <a:ext cx="107842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375"/>
              </a:spcAft>
              <a:buNone/>
            </a:pPr>
            <a:r>
              <a:rPr lang="en-US" sz="18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485602" y="2480221"/>
            <a:ext cx="10784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Paid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7485602" y="2655391"/>
            <a:ext cx="10784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escrow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240311" y="3293566"/>
            <a:ext cx="1214286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10"/>
              </a:lnSpc>
              <a:buNone/>
            </a:pPr>
            <a:r>
              <a:rPr lang="en-US" sz="315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92.5%</a:t>
            </a:r>
            <a:endParaRPr lang="en-US" sz="3150" dirty="0"/>
          </a:p>
        </p:txBody>
      </p:sp>
      <p:sp>
        <p:nvSpPr>
          <p:cNvPr id="29" name="Text 27"/>
          <p:cNvSpPr/>
          <p:nvPr/>
        </p:nvSpPr>
        <p:spPr>
          <a:xfrm>
            <a:off x="2240311" y="3891707"/>
            <a:ext cx="12142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Keep on Every Job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000789" y="3293566"/>
            <a:ext cx="1367153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10"/>
              </a:lnSpc>
              <a:buNone/>
            </a:pPr>
            <a:r>
              <a:rPr lang="en-US" sz="315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7.5%</a:t>
            </a:r>
            <a:endParaRPr lang="en-US" sz="3150" dirty="0"/>
          </a:p>
        </p:txBody>
      </p:sp>
      <p:sp>
        <p:nvSpPr>
          <p:cNvPr id="31" name="Text 29"/>
          <p:cNvSpPr/>
          <p:nvPr/>
        </p:nvSpPr>
        <p:spPr>
          <a:xfrm>
            <a:off x="4000789" y="3891707"/>
            <a:ext cx="136715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Industry-Low Platform Fee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16381" y="3293566"/>
            <a:ext cx="985061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10"/>
              </a:lnSpc>
              <a:buNone/>
            </a:pPr>
            <a:r>
              <a:rPr lang="en-US" sz="315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19+</a:t>
            </a:r>
            <a:endParaRPr lang="en-US" sz="3150" dirty="0"/>
          </a:p>
        </p:txBody>
      </p:sp>
      <p:sp>
        <p:nvSpPr>
          <p:cNvPr id="33" name="Text 31"/>
          <p:cNvSpPr/>
          <p:nvPr/>
        </p:nvSpPr>
        <p:spPr>
          <a:xfrm>
            <a:off x="5916381" y="3891707"/>
            <a:ext cx="98506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Categories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793552"/>
            <a:ext cx="418738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350"/>
              </a:spcAft>
              <a:buNone/>
            </a:pPr>
            <a:r>
              <a:rPr lang="en-US" sz="27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Bidding Works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76250" y="1460302"/>
            <a:ext cx="835533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135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submit bids, providers purchase Bid Credit Packs. Each bid costs 1 credit. Buy more, pay less per bid.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76250" y="1970782"/>
            <a:ext cx="8191500" cy="988516"/>
          </a:xfrm>
          <a:prstGeom prst="roundRect">
            <a:avLst>
              <a:gd name="adj" fmla="val 7709"/>
            </a:avLst>
          </a:prstGeom>
          <a:solidFill>
            <a:srgbClr val="252525"/>
          </a:solidFill>
          <a:ln w="9525">
            <a:solidFill>
              <a:srgbClr val="D4A84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8175" y="2132707"/>
            <a:ext cx="802500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38175" y="2401193"/>
            <a:ext cx="8025003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purchase the V8 Pack ($400 for 140 bids). A customer needs brake work. You bid $450 — uses 1 credit. If selected, you get paid $450. If not, you have 139 credits left.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476250" y="3302198"/>
            <a:ext cx="1940719" cy="1047601"/>
          </a:xfrm>
          <a:prstGeom prst="roundRect">
            <a:avLst>
              <a:gd name="adj" fmla="val 5455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92860" y="3435548"/>
            <a:ext cx="17074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2860" y="3626048"/>
            <a:ext cx="170749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Credit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92860" y="4056459"/>
            <a:ext cx="17074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1 Bid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59844" y="3302198"/>
            <a:ext cx="1940719" cy="1047601"/>
          </a:xfrm>
          <a:prstGeom prst="roundRect">
            <a:avLst>
              <a:gd name="adj" fmla="val 5455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676454" y="3435548"/>
            <a:ext cx="17074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LEVEL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676454" y="3626048"/>
            <a:ext cx="170749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$4.00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2676454" y="4056459"/>
            <a:ext cx="17074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bid (Dipstick)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43438" y="3302198"/>
            <a:ext cx="1940719" cy="1047601"/>
          </a:xfrm>
          <a:prstGeom prst="roundRect">
            <a:avLst>
              <a:gd name="adj" fmla="val 5455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60047" y="3435548"/>
            <a:ext cx="17074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VALUE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760047" y="3626048"/>
            <a:ext cx="170749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$0.65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760047" y="4056459"/>
            <a:ext cx="17074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bid (Championship)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27031" y="3302198"/>
            <a:ext cx="1940719" cy="1047601"/>
          </a:xfrm>
          <a:prstGeom prst="roundRect">
            <a:avLst>
              <a:gd name="adj" fmla="val 5455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843641" y="3435548"/>
            <a:ext cx="17074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843641" y="3626048"/>
            <a:ext cx="170749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43641" y="4056459"/>
            <a:ext cx="17074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top tier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931962"/>
            <a:ext cx="42359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Bid Credit Packs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28625" y="1274862"/>
            <a:ext cx="845248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small to test, scale up for better 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28625" y="1701552"/>
            <a:ext cx="4057650" cy="257175"/>
          </a:xfrm>
          <a:prstGeom prst="roundRect">
            <a:avLst>
              <a:gd name="adj" fmla="val 14815"/>
            </a:avLst>
          </a:prstGeom>
          <a:solidFill>
            <a:srgbClr val="2525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28625" y="1953964"/>
            <a:ext cx="4057650" cy="0"/>
          </a:xfrm>
          <a:prstGeom prst="line">
            <a:avLst/>
          </a:prstGeom>
          <a:noFill/>
          <a:ln w="9525">
            <a:solidFill>
              <a:srgbClr val="D4A8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3875" y="1758702"/>
            <a:ext cx="15778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055325" y="1758702"/>
            <a:ext cx="7889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828785" y="1758702"/>
            <a:ext cx="7889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602245" y="1758702"/>
            <a:ext cx="7889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/BID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28625" y="1958727"/>
            <a:ext cx="4057650" cy="251371"/>
          </a:xfrm>
          <a:prstGeom prst="rect">
            <a:avLst/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28625" y="2205335"/>
            <a:ext cx="40576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3875" y="2006352"/>
            <a:ext cx="15778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Dipstick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2055325" y="2006352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2828785" y="2006352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602245" y="2006352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$4.00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28625" y="2210098"/>
            <a:ext cx="4057650" cy="251371"/>
          </a:xfrm>
          <a:prstGeom prst="rect">
            <a:avLst/>
          </a:prstGeom>
          <a:solidFill>
            <a:srgbClr val="2525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28625" y="2456706"/>
            <a:ext cx="40576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3875" y="2257723"/>
            <a:ext cx="15778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 Plug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2055325" y="2257723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2828785" y="2257723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3602245" y="2257723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$3.57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28625" y="2461468"/>
            <a:ext cx="4057650" cy="251371"/>
          </a:xfrm>
          <a:prstGeom prst="rect">
            <a:avLst/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28625" y="2708077"/>
            <a:ext cx="40576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3875" y="2509093"/>
            <a:ext cx="15778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Turbo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2055325" y="2509093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2828785" y="2509093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3602245" y="2509093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$3.16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28625" y="2712839"/>
            <a:ext cx="4057650" cy="251371"/>
          </a:xfrm>
          <a:prstGeom prst="rect">
            <a:avLst/>
          </a:prstGeom>
          <a:solidFill>
            <a:srgbClr val="2525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28625" y="2959447"/>
            <a:ext cx="40576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3875" y="2760464"/>
            <a:ext cx="15778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V8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2055325" y="2760464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2828785" y="2760464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3602245" y="2760464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$2.86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428625" y="2964210"/>
            <a:ext cx="4057650" cy="251371"/>
          </a:xfrm>
          <a:prstGeom prst="rect">
            <a:avLst/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428625" y="3210818"/>
            <a:ext cx="40576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3875" y="3011835"/>
            <a:ext cx="15778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Muscle Car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2055325" y="3011835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2828785" y="3011835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3602245" y="3011835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$2.56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428625" y="3215580"/>
            <a:ext cx="4057650" cy="251371"/>
          </a:xfrm>
          <a:prstGeom prst="rect">
            <a:avLst/>
          </a:prstGeom>
          <a:solidFill>
            <a:srgbClr val="2525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428625" y="3462189"/>
            <a:ext cx="40576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3875" y="3263205"/>
            <a:ext cx="15778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Supercharger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2055325" y="3263205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$625</a:t>
            </a:r>
            <a:endParaRPr lang="en-US" sz="825" dirty="0"/>
          </a:p>
        </p:txBody>
      </p:sp>
      <p:sp>
        <p:nvSpPr>
          <p:cNvPr id="44" name="Text 42"/>
          <p:cNvSpPr/>
          <p:nvPr/>
        </p:nvSpPr>
        <p:spPr>
          <a:xfrm>
            <a:off x="2828785" y="3263205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270</a:t>
            </a:r>
            <a:endParaRPr lang="en-US" sz="825" dirty="0"/>
          </a:p>
        </p:txBody>
      </p:sp>
      <p:sp>
        <p:nvSpPr>
          <p:cNvPr id="45" name="Text 43"/>
          <p:cNvSpPr/>
          <p:nvPr/>
        </p:nvSpPr>
        <p:spPr>
          <a:xfrm>
            <a:off x="3602245" y="3263205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$2.31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428625" y="3466951"/>
            <a:ext cx="4057650" cy="251371"/>
          </a:xfrm>
          <a:prstGeom prst="rect">
            <a:avLst/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428625" y="3713559"/>
            <a:ext cx="40576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3875" y="3514576"/>
            <a:ext cx="15778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Racing Team</a:t>
            </a:r>
            <a:endParaRPr lang="en-US" sz="825" dirty="0"/>
          </a:p>
        </p:txBody>
      </p:sp>
      <p:sp>
        <p:nvSpPr>
          <p:cNvPr id="49" name="Text 47"/>
          <p:cNvSpPr/>
          <p:nvPr/>
        </p:nvSpPr>
        <p:spPr>
          <a:xfrm>
            <a:off x="2055325" y="3514576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</a:t>
            </a:r>
            <a:endParaRPr lang="en-US" sz="825" dirty="0"/>
          </a:p>
        </p:txBody>
      </p:sp>
      <p:sp>
        <p:nvSpPr>
          <p:cNvPr id="50" name="Text 48"/>
          <p:cNvSpPr/>
          <p:nvPr/>
        </p:nvSpPr>
        <p:spPr>
          <a:xfrm>
            <a:off x="2828785" y="3514576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385</a:t>
            </a:r>
            <a:endParaRPr lang="en-US" sz="825" dirty="0"/>
          </a:p>
        </p:txBody>
      </p:sp>
      <p:sp>
        <p:nvSpPr>
          <p:cNvPr id="51" name="Text 49"/>
          <p:cNvSpPr/>
          <p:nvPr/>
        </p:nvSpPr>
        <p:spPr>
          <a:xfrm>
            <a:off x="3602245" y="3514576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$2.08</a:t>
            </a:r>
            <a:endParaRPr lang="en-US" sz="825" dirty="0"/>
          </a:p>
        </p:txBody>
      </p:sp>
      <p:sp>
        <p:nvSpPr>
          <p:cNvPr id="52" name="Text 50"/>
          <p:cNvSpPr/>
          <p:nvPr/>
        </p:nvSpPr>
        <p:spPr>
          <a:xfrm>
            <a:off x="428625" y="3718322"/>
            <a:ext cx="4057650" cy="251371"/>
          </a:xfrm>
          <a:prstGeom prst="rect">
            <a:avLst/>
          </a:prstGeom>
          <a:solidFill>
            <a:srgbClr val="2525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428625" y="3964930"/>
            <a:ext cx="40576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3875" y="3765947"/>
            <a:ext cx="15778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 Crew</a:t>
            </a:r>
            <a:endParaRPr lang="en-US" sz="825" dirty="0"/>
          </a:p>
        </p:txBody>
      </p:sp>
      <p:sp>
        <p:nvSpPr>
          <p:cNvPr id="55" name="Text 53"/>
          <p:cNvSpPr/>
          <p:nvPr/>
        </p:nvSpPr>
        <p:spPr>
          <a:xfrm>
            <a:off x="2055325" y="3765947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$1,000</a:t>
            </a:r>
            <a:endParaRPr lang="en-US" sz="825" dirty="0"/>
          </a:p>
        </p:txBody>
      </p:sp>
      <p:sp>
        <p:nvSpPr>
          <p:cNvPr id="56" name="Text 54"/>
          <p:cNvSpPr/>
          <p:nvPr/>
        </p:nvSpPr>
        <p:spPr>
          <a:xfrm>
            <a:off x="2828785" y="3765947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535</a:t>
            </a:r>
            <a:endParaRPr lang="en-US" sz="825" dirty="0"/>
          </a:p>
        </p:txBody>
      </p:sp>
      <p:sp>
        <p:nvSpPr>
          <p:cNvPr id="57" name="Text 55"/>
          <p:cNvSpPr/>
          <p:nvPr/>
        </p:nvSpPr>
        <p:spPr>
          <a:xfrm>
            <a:off x="3602245" y="3765947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$1.87</a:t>
            </a:r>
            <a:endParaRPr lang="en-US" sz="825" dirty="0"/>
          </a:p>
        </p:txBody>
      </p:sp>
      <p:sp>
        <p:nvSpPr>
          <p:cNvPr id="58" name="Text 56"/>
          <p:cNvSpPr/>
          <p:nvPr/>
        </p:nvSpPr>
        <p:spPr>
          <a:xfrm>
            <a:off x="428625" y="3969693"/>
            <a:ext cx="4057650" cy="241846"/>
          </a:xfrm>
          <a:prstGeom prst="rect">
            <a:avLst/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523875" y="4017318"/>
            <a:ext cx="15778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Speedway</a:t>
            </a:r>
            <a:endParaRPr lang="en-US" sz="825" dirty="0"/>
          </a:p>
        </p:txBody>
      </p:sp>
      <p:sp>
        <p:nvSpPr>
          <p:cNvPr id="60" name="Text 58"/>
          <p:cNvSpPr/>
          <p:nvPr/>
        </p:nvSpPr>
        <p:spPr>
          <a:xfrm>
            <a:off x="2055325" y="4017318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$1,250</a:t>
            </a:r>
            <a:endParaRPr lang="en-US" sz="825" dirty="0"/>
          </a:p>
        </p:txBody>
      </p:sp>
      <p:sp>
        <p:nvSpPr>
          <p:cNvPr id="61" name="Text 59"/>
          <p:cNvSpPr/>
          <p:nvPr/>
        </p:nvSpPr>
        <p:spPr>
          <a:xfrm>
            <a:off x="2828785" y="4017318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745</a:t>
            </a:r>
            <a:endParaRPr lang="en-US" sz="825" dirty="0"/>
          </a:p>
        </p:txBody>
      </p:sp>
      <p:sp>
        <p:nvSpPr>
          <p:cNvPr id="62" name="Text 60"/>
          <p:cNvSpPr/>
          <p:nvPr/>
        </p:nvSpPr>
        <p:spPr>
          <a:xfrm>
            <a:off x="3602245" y="4017318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$1.68</a:t>
            </a:r>
            <a:endParaRPr lang="en-US" sz="825" dirty="0"/>
          </a:p>
        </p:txBody>
      </p:sp>
      <p:sp>
        <p:nvSpPr>
          <p:cNvPr id="63" name="Text 61"/>
          <p:cNvSpPr/>
          <p:nvPr/>
        </p:nvSpPr>
        <p:spPr>
          <a:xfrm>
            <a:off x="4657725" y="1701552"/>
            <a:ext cx="4057650" cy="257175"/>
          </a:xfrm>
          <a:prstGeom prst="roundRect">
            <a:avLst>
              <a:gd name="adj" fmla="val 14815"/>
            </a:avLst>
          </a:prstGeom>
          <a:solidFill>
            <a:srgbClr val="2525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Shape 62"/>
          <p:cNvSpPr/>
          <p:nvPr/>
        </p:nvSpPr>
        <p:spPr>
          <a:xfrm>
            <a:off x="4657725" y="1953964"/>
            <a:ext cx="4057650" cy="0"/>
          </a:xfrm>
          <a:prstGeom prst="line">
            <a:avLst/>
          </a:prstGeom>
          <a:noFill/>
          <a:ln w="9525">
            <a:solidFill>
              <a:srgbClr val="D4A84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52975" y="1758702"/>
            <a:ext cx="15778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6284425" y="1758702"/>
            <a:ext cx="7889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7057885" y="1758702"/>
            <a:ext cx="7889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BIDS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7831345" y="1758702"/>
            <a:ext cx="7889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/BID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4657725" y="1958727"/>
            <a:ext cx="4057650" cy="251371"/>
          </a:xfrm>
          <a:prstGeom prst="rect">
            <a:avLst/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Shape 68"/>
          <p:cNvSpPr/>
          <p:nvPr/>
        </p:nvSpPr>
        <p:spPr>
          <a:xfrm>
            <a:off x="4657725" y="2205335"/>
            <a:ext cx="40576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752975" y="2006352"/>
            <a:ext cx="15778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 Prix</a:t>
            </a:r>
            <a:endParaRPr lang="en-US" sz="825" dirty="0"/>
          </a:p>
        </p:txBody>
      </p:sp>
      <p:sp>
        <p:nvSpPr>
          <p:cNvPr id="72" name="Text 70"/>
          <p:cNvSpPr/>
          <p:nvPr/>
        </p:nvSpPr>
        <p:spPr>
          <a:xfrm>
            <a:off x="6284425" y="2006352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$1,500</a:t>
            </a:r>
            <a:endParaRPr lang="en-US" sz="825" dirty="0"/>
          </a:p>
        </p:txBody>
      </p:sp>
      <p:sp>
        <p:nvSpPr>
          <p:cNvPr id="73" name="Text 71"/>
          <p:cNvSpPr/>
          <p:nvPr/>
        </p:nvSpPr>
        <p:spPr>
          <a:xfrm>
            <a:off x="7057885" y="2006352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990</a:t>
            </a:r>
            <a:endParaRPr lang="en-US" sz="825" dirty="0"/>
          </a:p>
        </p:txBody>
      </p:sp>
      <p:sp>
        <p:nvSpPr>
          <p:cNvPr id="74" name="Text 72"/>
          <p:cNvSpPr/>
          <p:nvPr/>
        </p:nvSpPr>
        <p:spPr>
          <a:xfrm>
            <a:off x="7831345" y="2006352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$1.52</a:t>
            </a:r>
            <a:endParaRPr lang="en-US" sz="825" dirty="0"/>
          </a:p>
        </p:txBody>
      </p:sp>
      <p:sp>
        <p:nvSpPr>
          <p:cNvPr id="75" name="Text 73"/>
          <p:cNvSpPr/>
          <p:nvPr/>
        </p:nvSpPr>
        <p:spPr>
          <a:xfrm>
            <a:off x="4657725" y="2210098"/>
            <a:ext cx="4057650" cy="251371"/>
          </a:xfrm>
          <a:prstGeom prst="rect">
            <a:avLst/>
          </a:prstGeom>
          <a:solidFill>
            <a:srgbClr val="2525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Shape 74"/>
          <p:cNvSpPr/>
          <p:nvPr/>
        </p:nvSpPr>
        <p:spPr>
          <a:xfrm>
            <a:off x="4657725" y="2456706"/>
            <a:ext cx="40576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752975" y="2257723"/>
            <a:ext cx="15778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 One</a:t>
            </a:r>
            <a:endParaRPr lang="en-US" sz="825" dirty="0"/>
          </a:p>
        </p:txBody>
      </p:sp>
      <p:sp>
        <p:nvSpPr>
          <p:cNvPr id="78" name="Text 76"/>
          <p:cNvSpPr/>
          <p:nvPr/>
        </p:nvSpPr>
        <p:spPr>
          <a:xfrm>
            <a:off x="6284425" y="2257723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$2,000</a:t>
            </a:r>
            <a:endParaRPr lang="en-US" sz="825" dirty="0"/>
          </a:p>
        </p:txBody>
      </p:sp>
      <p:sp>
        <p:nvSpPr>
          <p:cNvPr id="79" name="Text 77"/>
          <p:cNvSpPr/>
          <p:nvPr/>
        </p:nvSpPr>
        <p:spPr>
          <a:xfrm>
            <a:off x="7057885" y="2257723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1,470</a:t>
            </a:r>
            <a:endParaRPr lang="en-US" sz="825" dirty="0"/>
          </a:p>
        </p:txBody>
      </p:sp>
      <p:sp>
        <p:nvSpPr>
          <p:cNvPr id="80" name="Text 78"/>
          <p:cNvSpPr/>
          <p:nvPr/>
        </p:nvSpPr>
        <p:spPr>
          <a:xfrm>
            <a:off x="7831345" y="2257723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$1.36</a:t>
            </a:r>
            <a:endParaRPr lang="en-US" sz="825" dirty="0"/>
          </a:p>
        </p:txBody>
      </p:sp>
      <p:sp>
        <p:nvSpPr>
          <p:cNvPr id="81" name="Text 79"/>
          <p:cNvSpPr/>
          <p:nvPr/>
        </p:nvSpPr>
        <p:spPr>
          <a:xfrm>
            <a:off x="4657725" y="2461468"/>
            <a:ext cx="4057650" cy="251371"/>
          </a:xfrm>
          <a:prstGeom prst="rect">
            <a:avLst/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Shape 80"/>
          <p:cNvSpPr/>
          <p:nvPr/>
        </p:nvSpPr>
        <p:spPr>
          <a:xfrm>
            <a:off x="4657725" y="2708077"/>
            <a:ext cx="40576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752975" y="2509093"/>
            <a:ext cx="15778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Mans</a:t>
            </a:r>
            <a:endParaRPr lang="en-US" sz="825" dirty="0"/>
          </a:p>
        </p:txBody>
      </p:sp>
      <p:sp>
        <p:nvSpPr>
          <p:cNvPr id="84" name="Text 82"/>
          <p:cNvSpPr/>
          <p:nvPr/>
        </p:nvSpPr>
        <p:spPr>
          <a:xfrm>
            <a:off x="6284425" y="2509093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$2,500</a:t>
            </a:r>
            <a:endParaRPr lang="en-US" sz="825" dirty="0"/>
          </a:p>
        </p:txBody>
      </p:sp>
      <p:sp>
        <p:nvSpPr>
          <p:cNvPr id="85" name="Text 83"/>
          <p:cNvSpPr/>
          <p:nvPr/>
        </p:nvSpPr>
        <p:spPr>
          <a:xfrm>
            <a:off x="7057885" y="2509093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2,050</a:t>
            </a:r>
            <a:endParaRPr lang="en-US" sz="825" dirty="0"/>
          </a:p>
        </p:txBody>
      </p:sp>
      <p:sp>
        <p:nvSpPr>
          <p:cNvPr id="86" name="Text 84"/>
          <p:cNvSpPr/>
          <p:nvPr/>
        </p:nvSpPr>
        <p:spPr>
          <a:xfrm>
            <a:off x="7831345" y="2509093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$1.22</a:t>
            </a:r>
            <a:endParaRPr lang="en-US" sz="825" dirty="0"/>
          </a:p>
        </p:txBody>
      </p:sp>
      <p:sp>
        <p:nvSpPr>
          <p:cNvPr id="87" name="Text 85"/>
          <p:cNvSpPr/>
          <p:nvPr/>
        </p:nvSpPr>
        <p:spPr>
          <a:xfrm>
            <a:off x="4657725" y="2712839"/>
            <a:ext cx="4057650" cy="251371"/>
          </a:xfrm>
          <a:prstGeom prst="rect">
            <a:avLst/>
          </a:prstGeom>
          <a:solidFill>
            <a:srgbClr val="2525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Shape 86"/>
          <p:cNvSpPr/>
          <p:nvPr/>
        </p:nvSpPr>
        <p:spPr>
          <a:xfrm>
            <a:off x="4657725" y="2959447"/>
            <a:ext cx="40576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52975" y="2760464"/>
            <a:ext cx="15778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Daytona</a:t>
            </a:r>
            <a:endParaRPr lang="en-US" sz="825" dirty="0"/>
          </a:p>
        </p:txBody>
      </p:sp>
      <p:sp>
        <p:nvSpPr>
          <p:cNvPr id="90" name="Text 88"/>
          <p:cNvSpPr/>
          <p:nvPr/>
        </p:nvSpPr>
        <p:spPr>
          <a:xfrm>
            <a:off x="6284425" y="2760464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$3,000</a:t>
            </a:r>
            <a:endParaRPr lang="en-US" sz="825" dirty="0"/>
          </a:p>
        </p:txBody>
      </p:sp>
      <p:sp>
        <p:nvSpPr>
          <p:cNvPr id="91" name="Text 89"/>
          <p:cNvSpPr/>
          <p:nvPr/>
        </p:nvSpPr>
        <p:spPr>
          <a:xfrm>
            <a:off x="7057885" y="2760464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2,725</a:t>
            </a:r>
            <a:endParaRPr lang="en-US" sz="825" dirty="0"/>
          </a:p>
        </p:txBody>
      </p:sp>
      <p:sp>
        <p:nvSpPr>
          <p:cNvPr id="92" name="Text 90"/>
          <p:cNvSpPr/>
          <p:nvPr/>
        </p:nvSpPr>
        <p:spPr>
          <a:xfrm>
            <a:off x="7831345" y="2760464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$1.10</a:t>
            </a:r>
            <a:endParaRPr lang="en-US" sz="825" dirty="0"/>
          </a:p>
        </p:txBody>
      </p:sp>
      <p:sp>
        <p:nvSpPr>
          <p:cNvPr id="93" name="Text 91"/>
          <p:cNvSpPr/>
          <p:nvPr/>
        </p:nvSpPr>
        <p:spPr>
          <a:xfrm>
            <a:off x="4657725" y="2964210"/>
            <a:ext cx="4057650" cy="251371"/>
          </a:xfrm>
          <a:prstGeom prst="rect">
            <a:avLst/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4" name="Shape 92"/>
          <p:cNvSpPr/>
          <p:nvPr/>
        </p:nvSpPr>
        <p:spPr>
          <a:xfrm>
            <a:off x="4657725" y="3210818"/>
            <a:ext cx="40576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752975" y="3011835"/>
            <a:ext cx="15778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Indy 500</a:t>
            </a:r>
            <a:endParaRPr lang="en-US" sz="825" dirty="0"/>
          </a:p>
        </p:txBody>
      </p:sp>
      <p:sp>
        <p:nvSpPr>
          <p:cNvPr id="96" name="Text 94"/>
          <p:cNvSpPr/>
          <p:nvPr/>
        </p:nvSpPr>
        <p:spPr>
          <a:xfrm>
            <a:off x="6284425" y="3011835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$4,000</a:t>
            </a:r>
            <a:endParaRPr lang="en-US" sz="825" dirty="0"/>
          </a:p>
        </p:txBody>
      </p:sp>
      <p:sp>
        <p:nvSpPr>
          <p:cNvPr id="97" name="Text 95"/>
          <p:cNvSpPr/>
          <p:nvPr/>
        </p:nvSpPr>
        <p:spPr>
          <a:xfrm>
            <a:off x="7057885" y="3011835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4,040</a:t>
            </a:r>
            <a:endParaRPr lang="en-US" sz="825" dirty="0"/>
          </a:p>
        </p:txBody>
      </p:sp>
      <p:sp>
        <p:nvSpPr>
          <p:cNvPr id="98" name="Text 96"/>
          <p:cNvSpPr/>
          <p:nvPr/>
        </p:nvSpPr>
        <p:spPr>
          <a:xfrm>
            <a:off x="7831345" y="3011835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$0.99</a:t>
            </a:r>
            <a:endParaRPr lang="en-US" sz="825" dirty="0"/>
          </a:p>
        </p:txBody>
      </p:sp>
      <p:sp>
        <p:nvSpPr>
          <p:cNvPr id="99" name="Text 97"/>
          <p:cNvSpPr/>
          <p:nvPr/>
        </p:nvSpPr>
        <p:spPr>
          <a:xfrm>
            <a:off x="4657725" y="3215580"/>
            <a:ext cx="4057650" cy="251371"/>
          </a:xfrm>
          <a:prstGeom prst="rect">
            <a:avLst/>
          </a:prstGeom>
          <a:solidFill>
            <a:srgbClr val="2525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0" name="Shape 98"/>
          <p:cNvSpPr/>
          <p:nvPr/>
        </p:nvSpPr>
        <p:spPr>
          <a:xfrm>
            <a:off x="4657725" y="3462189"/>
            <a:ext cx="40576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752975" y="3263205"/>
            <a:ext cx="15778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Monaco</a:t>
            </a:r>
            <a:endParaRPr lang="en-US" sz="825" dirty="0"/>
          </a:p>
        </p:txBody>
      </p:sp>
      <p:sp>
        <p:nvSpPr>
          <p:cNvPr id="102" name="Text 100"/>
          <p:cNvSpPr/>
          <p:nvPr/>
        </p:nvSpPr>
        <p:spPr>
          <a:xfrm>
            <a:off x="6284425" y="3263205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$5,000</a:t>
            </a:r>
            <a:endParaRPr lang="en-US" sz="825" dirty="0"/>
          </a:p>
        </p:txBody>
      </p:sp>
      <p:sp>
        <p:nvSpPr>
          <p:cNvPr id="103" name="Text 101"/>
          <p:cNvSpPr/>
          <p:nvPr/>
        </p:nvSpPr>
        <p:spPr>
          <a:xfrm>
            <a:off x="7057885" y="3263205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5,620</a:t>
            </a:r>
            <a:endParaRPr lang="en-US" sz="825" dirty="0"/>
          </a:p>
        </p:txBody>
      </p:sp>
      <p:sp>
        <p:nvSpPr>
          <p:cNvPr id="104" name="Text 102"/>
          <p:cNvSpPr/>
          <p:nvPr/>
        </p:nvSpPr>
        <p:spPr>
          <a:xfrm>
            <a:off x="7831345" y="3263205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$0.89</a:t>
            </a:r>
            <a:endParaRPr lang="en-US" sz="825" dirty="0"/>
          </a:p>
        </p:txBody>
      </p:sp>
      <p:sp>
        <p:nvSpPr>
          <p:cNvPr id="105" name="Text 103"/>
          <p:cNvSpPr/>
          <p:nvPr/>
        </p:nvSpPr>
        <p:spPr>
          <a:xfrm>
            <a:off x="4657725" y="3466951"/>
            <a:ext cx="4057650" cy="251371"/>
          </a:xfrm>
          <a:prstGeom prst="rect">
            <a:avLst/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6" name="Shape 104"/>
          <p:cNvSpPr/>
          <p:nvPr/>
        </p:nvSpPr>
        <p:spPr>
          <a:xfrm>
            <a:off x="4657725" y="3713559"/>
            <a:ext cx="40576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752975" y="3514576"/>
            <a:ext cx="15778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Autobahn</a:t>
            </a:r>
            <a:endParaRPr lang="en-US" sz="825" dirty="0"/>
          </a:p>
        </p:txBody>
      </p:sp>
      <p:sp>
        <p:nvSpPr>
          <p:cNvPr id="108" name="Text 106"/>
          <p:cNvSpPr/>
          <p:nvPr/>
        </p:nvSpPr>
        <p:spPr>
          <a:xfrm>
            <a:off x="6284425" y="3514576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$6,250</a:t>
            </a:r>
            <a:endParaRPr lang="en-US" sz="825" dirty="0"/>
          </a:p>
        </p:txBody>
      </p:sp>
      <p:sp>
        <p:nvSpPr>
          <p:cNvPr id="109" name="Text 107"/>
          <p:cNvSpPr/>
          <p:nvPr/>
        </p:nvSpPr>
        <p:spPr>
          <a:xfrm>
            <a:off x="7057885" y="3514576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7,800</a:t>
            </a:r>
            <a:endParaRPr lang="en-US" sz="825" dirty="0"/>
          </a:p>
        </p:txBody>
      </p:sp>
      <p:sp>
        <p:nvSpPr>
          <p:cNvPr id="110" name="Text 108"/>
          <p:cNvSpPr/>
          <p:nvPr/>
        </p:nvSpPr>
        <p:spPr>
          <a:xfrm>
            <a:off x="7831345" y="3514576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$0.80</a:t>
            </a:r>
            <a:endParaRPr lang="en-US" sz="825" dirty="0"/>
          </a:p>
        </p:txBody>
      </p:sp>
      <p:sp>
        <p:nvSpPr>
          <p:cNvPr id="111" name="Text 109"/>
          <p:cNvSpPr/>
          <p:nvPr/>
        </p:nvSpPr>
        <p:spPr>
          <a:xfrm>
            <a:off x="4657725" y="3718322"/>
            <a:ext cx="4057650" cy="251371"/>
          </a:xfrm>
          <a:prstGeom prst="rect">
            <a:avLst/>
          </a:prstGeom>
          <a:solidFill>
            <a:srgbClr val="2525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2" name="Shape 110"/>
          <p:cNvSpPr/>
          <p:nvPr/>
        </p:nvSpPr>
        <p:spPr>
          <a:xfrm>
            <a:off x="4657725" y="3964930"/>
            <a:ext cx="40576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752975" y="3765947"/>
            <a:ext cx="15778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Nurburgring</a:t>
            </a:r>
            <a:endParaRPr lang="en-US" sz="825" dirty="0"/>
          </a:p>
        </p:txBody>
      </p:sp>
      <p:sp>
        <p:nvSpPr>
          <p:cNvPr id="114" name="Text 112"/>
          <p:cNvSpPr/>
          <p:nvPr/>
        </p:nvSpPr>
        <p:spPr>
          <a:xfrm>
            <a:off x="6284425" y="3765947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$7,500</a:t>
            </a:r>
            <a:endParaRPr lang="en-US" sz="825" dirty="0"/>
          </a:p>
        </p:txBody>
      </p:sp>
      <p:sp>
        <p:nvSpPr>
          <p:cNvPr id="115" name="Text 113"/>
          <p:cNvSpPr/>
          <p:nvPr/>
        </p:nvSpPr>
        <p:spPr>
          <a:xfrm>
            <a:off x="7057885" y="3765947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10,400</a:t>
            </a:r>
            <a:endParaRPr lang="en-US" sz="825" dirty="0"/>
          </a:p>
        </p:txBody>
      </p:sp>
      <p:sp>
        <p:nvSpPr>
          <p:cNvPr id="116" name="Text 114"/>
          <p:cNvSpPr/>
          <p:nvPr/>
        </p:nvSpPr>
        <p:spPr>
          <a:xfrm>
            <a:off x="7831345" y="3765947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$0.72</a:t>
            </a:r>
            <a:endParaRPr lang="en-US" sz="825" dirty="0"/>
          </a:p>
        </p:txBody>
      </p:sp>
      <p:sp>
        <p:nvSpPr>
          <p:cNvPr id="117" name="Text 115"/>
          <p:cNvSpPr/>
          <p:nvPr/>
        </p:nvSpPr>
        <p:spPr>
          <a:xfrm>
            <a:off x="4657725" y="3969693"/>
            <a:ext cx="4057650" cy="241846"/>
          </a:xfrm>
          <a:prstGeom prst="rect">
            <a:avLst/>
          </a:prstGeom>
          <a:solidFill>
            <a:srgbClr val="D4A8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8" name="Text 116"/>
          <p:cNvSpPr/>
          <p:nvPr/>
        </p:nvSpPr>
        <p:spPr>
          <a:xfrm>
            <a:off x="4752975" y="4017318"/>
            <a:ext cx="15778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Championship</a:t>
            </a:r>
            <a:endParaRPr lang="en-US" sz="825" dirty="0"/>
          </a:p>
        </p:txBody>
      </p:sp>
      <p:sp>
        <p:nvSpPr>
          <p:cNvPr id="119" name="Text 117"/>
          <p:cNvSpPr/>
          <p:nvPr/>
        </p:nvSpPr>
        <p:spPr>
          <a:xfrm>
            <a:off x="6284425" y="4017318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$10,000</a:t>
            </a:r>
            <a:endParaRPr lang="en-US" sz="825" dirty="0"/>
          </a:p>
        </p:txBody>
      </p:sp>
      <p:sp>
        <p:nvSpPr>
          <p:cNvPr id="120" name="Text 118"/>
          <p:cNvSpPr/>
          <p:nvPr/>
        </p:nvSpPr>
        <p:spPr>
          <a:xfrm>
            <a:off x="7057885" y="4017318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15,400</a:t>
            </a:r>
            <a:endParaRPr lang="en-US" sz="825" dirty="0"/>
          </a:p>
        </p:txBody>
      </p:sp>
      <p:sp>
        <p:nvSpPr>
          <p:cNvPr id="121" name="Text 119"/>
          <p:cNvSpPr/>
          <p:nvPr/>
        </p:nvSpPr>
        <p:spPr>
          <a:xfrm>
            <a:off x="7831345" y="4017318"/>
            <a:ext cx="7889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$0.65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381000"/>
            <a:ext cx="418738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650"/>
              </a:spcAft>
              <a:buNone/>
            </a:pPr>
            <a:r>
              <a:rPr lang="en-US" sz="27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Service Providers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76250" y="1085850"/>
            <a:ext cx="40076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825"/>
              </a:spcAft>
              <a:buNone/>
            </a:pPr>
            <a:r>
              <a:rPr lang="en-US" sz="975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365"/>
              </a:lnSpc>
              <a:spcAft>
                <a:spcPts val="825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Keep 92.5% of every job (7.5% fee)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476250" y="1363861"/>
            <a:ext cx="40076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825"/>
              </a:spcAft>
              <a:buNone/>
            </a:pPr>
            <a:r>
              <a:rPr lang="en-US" sz="975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365"/>
              </a:lnSpc>
              <a:spcAft>
                <a:spcPts val="825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Guaranteed payment through escrow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476250" y="1641872"/>
            <a:ext cx="40076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825"/>
              </a:spcAft>
              <a:buNone/>
            </a:pPr>
            <a:r>
              <a:rPr lang="en-US" sz="975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365"/>
              </a:lnSpc>
              <a:spcAft>
                <a:spcPts val="825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Access to quality, vetted customers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476250" y="1919883"/>
            <a:ext cx="40076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825"/>
              </a:spcAft>
              <a:buNone/>
            </a:pPr>
            <a:r>
              <a:rPr lang="en-US" sz="975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365"/>
              </a:lnSpc>
              <a:spcAft>
                <a:spcPts val="825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Walk-In POS for shop customers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476250" y="2197894"/>
            <a:ext cx="40076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825"/>
              </a:spcAft>
              <a:buNone/>
            </a:pPr>
            <a:r>
              <a:rPr lang="en-US" sz="975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365"/>
              </a:lnSpc>
              <a:spcAft>
                <a:spcPts val="825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Team management with background checks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476250" y="2475905"/>
            <a:ext cx="40076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Real-time job updates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738688" y="1085850"/>
            <a:ext cx="40076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825"/>
              </a:spcAft>
              <a:buNone/>
            </a:pPr>
            <a:r>
              <a:rPr lang="en-US" sz="975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365"/>
              </a:lnSpc>
              <a:spcAft>
                <a:spcPts val="825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Performance scoring and badges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738688" y="1363861"/>
            <a:ext cx="40076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825"/>
              </a:spcAft>
              <a:buNone/>
            </a:pPr>
            <a:r>
              <a:rPr lang="en-US" sz="975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365"/>
              </a:lnSpc>
              <a:spcAft>
                <a:spcPts val="825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Referral commission program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738688" y="1641872"/>
            <a:ext cx="40076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825"/>
              </a:spcAft>
              <a:buNone/>
            </a:pPr>
            <a:r>
              <a:rPr lang="en-US" sz="975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365"/>
              </a:lnSpc>
              <a:spcAft>
                <a:spcPts val="825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Fleet account access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738688" y="1919883"/>
            <a:ext cx="40076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825"/>
              </a:spcAft>
              <a:buNone/>
            </a:pPr>
            <a:r>
              <a:rPr lang="en-US" sz="975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365"/>
              </a:lnSpc>
              <a:spcAft>
                <a:spcPts val="825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Mobile-friendly interface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738688" y="2197894"/>
            <a:ext cx="40076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825"/>
              </a:spcAft>
              <a:buNone/>
            </a:pPr>
            <a:r>
              <a:rPr lang="en-US" sz="975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365"/>
              </a:lnSpc>
              <a:spcAft>
                <a:spcPts val="825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Driver certification for transport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738688" y="2475905"/>
            <a:ext cx="40076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Earnings analytics dashboard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76250" y="4360664"/>
            <a:ext cx="8191500" cy="401836"/>
          </a:xfrm>
          <a:prstGeom prst="rect">
            <a:avLst/>
          </a:prstGeom>
          <a:solidFill>
            <a:srgbClr val="2525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90538" y="4360664"/>
            <a:ext cx="0" cy="401836"/>
          </a:xfrm>
          <a:prstGeom prst="line">
            <a:avLst/>
          </a:prstGeom>
          <a:noFill/>
          <a:ln w="28575">
            <a:solidFill>
              <a:srgbClr val="D4A8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7225" y="4474964"/>
            <a:ext cx="80152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i="1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 contracts. No exclusivity. No obligation. If a job doesn't fit — simply pass."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861268"/>
            <a:ext cx="418738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375"/>
              </a:spcAft>
              <a:buNone/>
            </a:pPr>
            <a:r>
              <a:rPr lang="en-US" sz="255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Founding Provider Program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76250" y="1232743"/>
            <a:ext cx="83553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1350"/>
              </a:spcAft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early opportunity for providers who join during initial rollout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76250" y="1716584"/>
            <a:ext cx="2654350" cy="649486"/>
          </a:xfrm>
          <a:prstGeom prst="roundRect">
            <a:avLst>
              <a:gd name="adj" fmla="val 8799"/>
            </a:avLst>
          </a:prstGeom>
          <a:solidFill>
            <a:srgbClr val="2525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76250" y="1730871"/>
            <a:ext cx="2654350" cy="0"/>
          </a:xfrm>
          <a:prstGeom prst="line">
            <a:avLst/>
          </a:prstGeom>
          <a:noFill/>
          <a:ln w="28575">
            <a:solidFill>
              <a:srgbClr val="D4A8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600" y="1878509"/>
            <a:ext cx="24354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75"/>
              </a:spcAft>
              <a:buNone/>
            </a:pPr>
            <a:r>
              <a:rPr lang="en-US" sz="9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Fees for 90 Days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9600" y="2086124"/>
            <a:ext cx="24354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100% during pilot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244900" y="1716584"/>
            <a:ext cx="2654350" cy="649486"/>
          </a:xfrm>
          <a:prstGeom prst="roundRect">
            <a:avLst>
              <a:gd name="adj" fmla="val 8799"/>
            </a:avLst>
          </a:prstGeom>
          <a:solidFill>
            <a:srgbClr val="2525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44900" y="1730871"/>
            <a:ext cx="2654350" cy="0"/>
          </a:xfrm>
          <a:prstGeom prst="line">
            <a:avLst/>
          </a:prstGeom>
          <a:noFill/>
          <a:ln w="28575">
            <a:solidFill>
              <a:srgbClr val="D4A8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78250" y="1878509"/>
            <a:ext cx="24354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75"/>
              </a:spcAft>
              <a:buNone/>
            </a:pPr>
            <a:r>
              <a:rPr lang="en-US" sz="9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Bidding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78250" y="2086124"/>
            <a:ext cx="24354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caps during pilot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6013549" y="1716584"/>
            <a:ext cx="2654350" cy="649486"/>
          </a:xfrm>
          <a:prstGeom prst="roundRect">
            <a:avLst>
              <a:gd name="adj" fmla="val 8799"/>
            </a:avLst>
          </a:prstGeom>
          <a:solidFill>
            <a:srgbClr val="2525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013549" y="1730871"/>
            <a:ext cx="2654350" cy="0"/>
          </a:xfrm>
          <a:prstGeom prst="line">
            <a:avLst/>
          </a:prstGeom>
          <a:noFill/>
          <a:ln w="28575">
            <a:solidFill>
              <a:srgbClr val="D4A8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6899" y="1878509"/>
            <a:ext cx="24354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75"/>
              </a:spcAft>
              <a:buNone/>
            </a:pPr>
            <a:r>
              <a:rPr lang="en-US" sz="9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Visibility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46899" y="2086124"/>
            <a:ext cx="24354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in customer searches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76250" y="2632770"/>
            <a:ext cx="2654350" cy="649486"/>
          </a:xfrm>
          <a:prstGeom prst="roundRect">
            <a:avLst>
              <a:gd name="adj" fmla="val 8799"/>
            </a:avLst>
          </a:prstGeom>
          <a:solidFill>
            <a:srgbClr val="2525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6250" y="2647057"/>
            <a:ext cx="2654350" cy="0"/>
          </a:xfrm>
          <a:prstGeom prst="line">
            <a:avLst/>
          </a:prstGeom>
          <a:noFill/>
          <a:ln w="28575">
            <a:solidFill>
              <a:srgbClr val="D4A8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9600" y="2794695"/>
            <a:ext cx="24354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75"/>
              </a:spcAft>
              <a:buNone/>
            </a:pPr>
            <a:r>
              <a:rPr lang="en-US" sz="9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Founding Badge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9600" y="3002310"/>
            <a:ext cx="24354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Permanent recognition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3244900" y="2632770"/>
            <a:ext cx="2654350" cy="649486"/>
          </a:xfrm>
          <a:prstGeom prst="roundRect">
            <a:avLst>
              <a:gd name="adj" fmla="val 8799"/>
            </a:avLst>
          </a:prstGeom>
          <a:solidFill>
            <a:srgbClr val="2525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244900" y="2647057"/>
            <a:ext cx="2654350" cy="0"/>
          </a:xfrm>
          <a:prstGeom prst="line">
            <a:avLst/>
          </a:prstGeom>
          <a:noFill/>
          <a:ln w="28575">
            <a:solidFill>
              <a:srgbClr val="D4A8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78250" y="2794695"/>
            <a:ext cx="24354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75"/>
              </a:spcAft>
              <a:buNone/>
            </a:pPr>
            <a:r>
              <a:rPr lang="en-US" sz="9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Referral Commission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78250" y="3002310"/>
            <a:ext cx="24354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Lifetime on referred bids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6013549" y="2632770"/>
            <a:ext cx="2654350" cy="649486"/>
          </a:xfrm>
          <a:prstGeom prst="roundRect">
            <a:avLst>
              <a:gd name="adj" fmla="val 8799"/>
            </a:avLst>
          </a:prstGeom>
          <a:solidFill>
            <a:srgbClr val="2525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013549" y="2647057"/>
            <a:ext cx="2654350" cy="0"/>
          </a:xfrm>
          <a:prstGeom prst="line">
            <a:avLst/>
          </a:prstGeom>
          <a:noFill/>
          <a:ln w="28575">
            <a:solidFill>
              <a:srgbClr val="D4A8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46899" y="2794695"/>
            <a:ext cx="24354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75"/>
              </a:spcAft>
              <a:buNone/>
            </a:pPr>
            <a:r>
              <a:rPr lang="en-US" sz="9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Access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46899" y="3002310"/>
            <a:ext cx="24354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 MCC with us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76250" y="3606105"/>
            <a:ext cx="8191500" cy="676126"/>
          </a:xfrm>
          <a:prstGeom prst="rect">
            <a:avLst/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90538" y="3606105"/>
            <a:ext cx="0" cy="676126"/>
          </a:xfrm>
          <a:prstGeom prst="line">
            <a:avLst/>
          </a:prstGeom>
          <a:noFill/>
          <a:ln w="28575">
            <a:solidFill>
              <a:srgbClr val="D4A8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275" y="3739455"/>
            <a:ext cx="797642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i="1" dirty="0">
                <a:solidFill>
                  <a:srgbClr val="B0B0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 believe in getting things right before scaling. By working with Founding Providers, we build a platform that works for automotive professionals."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676275" y="3988891"/>
            <a:ext cx="797642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Jordan, Founder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5845" y="231874"/>
            <a:ext cx="407216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00"/>
              </a:lnSpc>
              <a:spcAft>
                <a:spcPts val="1875"/>
              </a:spcAft>
              <a:buNone/>
            </a:pPr>
            <a:r>
              <a:rPr lang="en-US" sz="33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Get Started?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3027844" y="1041499"/>
            <a:ext cx="308816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45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Applying is free. Takes about 5 minutes.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283937" y="1490960"/>
            <a:ext cx="257612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2625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obligation to accept any work.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392686" y="2216646"/>
            <a:ext cx="2358479" cy="971401"/>
          </a:xfrm>
          <a:prstGeom prst="roundRect">
            <a:avLst>
              <a:gd name="adj" fmla="val 7844"/>
            </a:avLst>
          </a:prstGeom>
          <a:solidFill>
            <a:srgbClr val="D4A8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54876" y="2407146"/>
            <a:ext cx="143409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450"/>
              </a:spcAft>
              <a:buNone/>
            </a:pPr>
            <a:r>
              <a:rPr lang="en-US" sz="1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Now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54876" y="2784277"/>
            <a:ext cx="143409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mycarconcierge.com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77602" y="3673822"/>
            <a:ext cx="238864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Aft>
                <a:spcPts val="2250"/>
              </a:spcAft>
              <a:buNone/>
            </a:pPr>
            <a:r>
              <a:rPr lang="en-US" sz="97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support@mycarconcierge.com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381853" y="4285208"/>
            <a:ext cx="238014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i="1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contracts. No exclusivity. No obligation.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61016" y="4738539"/>
            <a:ext cx="262181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revolutionize automotive service together.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Car Concierge - Provider Opportunity Guide</dc:title>
  <dc:subject>PptxGenJS Presentation</dc:subject>
  <dc:creator>My Car Concierge</dc:creator>
  <cp:lastModifiedBy>My Car Concierge</cp:lastModifiedBy>
  <cp:revision>1</cp:revision>
  <dcterms:created xsi:type="dcterms:W3CDTF">2026-01-12T01:21:02Z</dcterms:created>
  <dcterms:modified xsi:type="dcterms:W3CDTF">2026-01-12T01:21:02Z</dcterms:modified>
</cp:coreProperties>
</file>